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00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9BCDD"/>
                </a:solidFill>
                <a:latin typeface="Calibri"/>
              </a:rPr>
              <a:t>HACKATHON · JOVENS TALENTOS AI BUILDER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Recomendação de Investimento Imobiliário</a:t>
            </a:r>
          </a:p>
          <a:p>
            <a:pPr algn="l">
              <a:spcAft>
                <a:spcPts val="600"/>
              </a:spcAft>
            </a:pPr>
            <a:r>
              <a:rPr sz="4200" b="1">
                <a:solidFill>
                  <a:srgbClr val="FC6058"/>
                </a:solidFill>
                <a:latin typeface="Calibri"/>
              </a:rPr>
              <a:t>em Itapema (SC)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6DFF0"/>
                </a:solidFill>
                <a:latin typeface="Calibri"/>
              </a:rPr>
              <a:t>Análise de mercado Airbnb + VivaReal | Decisão com apoio de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9BCDD"/>
                </a:solidFill>
                <a:latin typeface="Calibri"/>
              </a:rPr>
              <a:t>4 perguntas → 1 recomendação, com retorno estimado e posição sobre a tese dos compactos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Relatório completo: relatorio.md  ·  Processo com IA: ai-log/  ·  Projeto: github.com/escalant-e/jt2026-ricardo-escalante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 desafio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E1B33"/>
                </a:solidFill>
              </a:rPr>
              <a:t>• Base de dados real de Itapema (SC): </a:t>
            </a:r>
            <a:r>
              <a:rPr sz="1900">
                <a:solidFill>
                  <a:srgbClr val="4A5A78"/>
                </a:solidFill>
              </a:rPr>
              <a:t>4.441 anúncios de Airbnb + 8.329 de venda (VivaReal).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E1B33"/>
                </a:solidFill>
              </a:rPr>
              <a:t>• Missão: </a:t>
            </a:r>
            <a:r>
              <a:rPr sz="1900">
                <a:solidFill>
                  <a:srgbClr val="4A5A78"/>
                </a:solidFill>
              </a:rPr>
              <a:t>responder 4 perguntas e entregar uma recomendação de investimento para a Seazone, líder em short stay no Brasil.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E1B33"/>
                </a:solidFill>
              </a:rPr>
              <a:t>• Critérios 'abertos' de propósito: </a:t>
            </a:r>
            <a:r>
              <a:rPr sz="1900">
                <a:solidFill>
                  <a:srgbClr val="4A5A78"/>
                </a:solidFill>
              </a:rPr>
              <a:t>definimos o critério (retorno ajustado por ocupação) e justificamos com os dados.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840480"/>
            <a:ext cx="10789920" cy="228600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0233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55FF"/>
                </a:solidFill>
                <a:latin typeface="Calibri"/>
              </a:rPr>
              <a:t>TESE INTERNA A AVALIAR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389120"/>
            <a:ext cx="10241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E1B33"/>
                </a:solidFill>
                <a:latin typeface="Calibri"/>
              </a:rPr>
              <a:t>"Apartamentos compactos (studio/1Q) na região do Centro seriam a aposta mais eficiente para a Seazone."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A5A78"/>
                </a:solidFill>
                <a:latin typeface="Calibri"/>
              </a:rPr>
              <a:t>→ Tomamos posição: os dados a sustentam ou não?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Como analisamos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Receita: </a:t>
            </a:r>
            <a:r>
              <a:rPr sz="1800">
                <a:solidFill>
                  <a:srgbClr val="4A5A78"/>
                </a:solidFill>
              </a:rPr>
              <a:t>diária mediana × 365 × ocupação (cenários 40/55/70%).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Price_AV = disponibilidade </a:t>
            </a:r>
            <a:r>
              <a:rPr sz="1800">
                <a:solidFill>
                  <a:srgbClr val="4A5A78"/>
                </a:solidFill>
              </a:rPr>
              <a:t>→ modelamos por cenários, não 'dias ocupados'.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Retorno: </a:t>
            </a:r>
            <a:r>
              <a:rPr sz="1800">
                <a:solidFill>
                  <a:srgbClr val="4A5A78"/>
                </a:solidFill>
              </a:rPr>
              <a:t>receita ÷ preço de venda (VivaReal).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Confiabilidade: </a:t>
            </a:r>
            <a:r>
              <a:rPr sz="1800">
                <a:solidFill>
                  <a:srgbClr val="4A5A78"/>
                </a:solidFill>
              </a:rPr>
              <a:t>pares ALTA/MÉDIA/BAIXA por volume de listings e anúncios.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Rigor: </a:t>
            </a:r>
            <a:r>
              <a:rPr sz="1800">
                <a:solidFill>
                  <a:srgbClr val="4A5A78"/>
                </a:solidFill>
              </a:rPr>
              <a:t>CRISP-DM + teste de falseamento da tese.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463040"/>
            <a:ext cx="4846320" cy="466344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6916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BASES UTILIZADAS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148840"/>
            <a:ext cx="4297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Details — </a:t>
            </a:r>
            <a:r>
              <a:rPr sz="1500">
                <a:solidFill>
                  <a:srgbClr val="D6DFF0"/>
                </a:solidFill>
              </a:rPr>
              <a:t>perfil, quartos, ratings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Hosts — </a:t>
            </a:r>
            <a:r>
              <a:rPr sz="1500">
                <a:solidFill>
                  <a:srgbClr val="D6DFF0"/>
                </a:solidFill>
              </a:rPr>
              <a:t>anfitriões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Mesh — </a:t>
            </a:r>
            <a:r>
              <a:rPr sz="1500">
                <a:solidFill>
                  <a:srgbClr val="D6DFF0"/>
                </a:solidFill>
              </a:rPr>
              <a:t>bairro / geolocalização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Price_AV — </a:t>
            </a:r>
            <a:r>
              <a:rPr sz="1500">
                <a:solidFill>
                  <a:srgbClr val="D6DFF0"/>
                </a:solidFill>
              </a:rPr>
              <a:t>diária por data (jan–abr/25)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</a:rPr>
              <a:t>VivaReal — </a:t>
            </a:r>
            <a:r>
              <a:rPr sz="1500">
                <a:solidFill>
                  <a:srgbClr val="D6DFF0"/>
                </a:solidFill>
              </a:rPr>
              <a:t>preço de venda, área, condomínio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PERGUNTA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Melhor perfil de imóvel (tipologia, nº de quartos)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E1B33"/>
                </a:solidFill>
              </a:rPr>
              <a:t>• Definimos o critério: </a:t>
            </a:r>
            <a:r>
              <a:rPr sz="1700">
                <a:solidFill>
                  <a:srgbClr val="4A5A78"/>
                </a:solidFill>
              </a:rPr>
              <a:t>três óticas — receita bruta, produtividade de área (R$/m²) e retorno sobre capital.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94560"/>
          <a:ext cx="6309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822704"/>
                <a:gridCol w="1402080"/>
                <a:gridCol w="1682496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Tipologia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Receita bruta (55%)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R$/m²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Retorno s/ capital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4Q+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R$ 210,8 mil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R$ 1.114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5,7%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3Q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R$ 130,5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R$ 1.183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9,0%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2Q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R$ 90,3 mil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R$ 1.202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10,3%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1Q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R$ 77,3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R$ 1.807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9,6%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269480" y="2194560"/>
            <a:ext cx="4206240" cy="128016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237744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3Q/4Q+ vencem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no faturamento bruto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3657600"/>
            <a:ext cx="4206240" cy="1280160"/>
          </a:xfrm>
          <a:prstGeom prst="rect">
            <a:avLst/>
          </a:prstGeom>
          <a:solidFill>
            <a:srgbClr val="00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384048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2Q é o equilíbrio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melhor retorno sobre capital (10,3%)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9480" y="5120640"/>
            <a:ext cx="4206240" cy="128016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3035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1Q maximiza R$/m²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(R$ 1.807) e tipo 'apartamento' domina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PERGUNTA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Melhor localização em termos de receita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6949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304"/>
                <a:gridCol w="868680"/>
                <a:gridCol w="1737360"/>
                <a:gridCol w="1911096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Bairro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Diária mediana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Receita anual (55%)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MEIA PRAIA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630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R$ 590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R$ 118,4 mil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CANTO DA PRAIA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R$ 112,2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TABU. OLIVEIRAS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R$ 540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R$ 108,4 mil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CENTRO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R$ 102,2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MORRETES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82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R$ 471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E1B33"/>
                          </a:solidFill>
                        </a:rPr>
                        <a:t>R$ 94,5 mil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1737360"/>
            <a:ext cx="3566160" cy="347472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9659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55FF"/>
                </a:solidFill>
                <a:latin typeface="Calibri"/>
              </a:rPr>
              <a:t>LEITURA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3172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1B33"/>
                </a:solidFill>
                <a:latin typeface="Calibri"/>
              </a:rPr>
              <a:t>Meia Praia lidera a receita consolidada.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A78"/>
                </a:solidFill>
                <a:latin typeface="Calibri"/>
              </a:rPr>
              <a:t>Canto da Praia e Areal têm números altos, mas volume mínimo.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A78"/>
                </a:solidFill>
                <a:latin typeface="Calibri"/>
              </a:rPr>
              <a:t>Centro é a alternativa relevante de maior volume na região central.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PERGUNTA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 que explica as melhores receitas?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800" b="1">
                <a:solidFill>
                  <a:srgbClr val="0E1B33"/>
                </a:solidFill>
              </a:rPr>
              <a:t>• Regressão múltipla (R²=0,45): </a:t>
            </a:r>
            <a:r>
              <a:rPr sz="1800">
                <a:solidFill>
                  <a:srgbClr val="4A5A78"/>
                </a:solidFill>
              </a:rPr>
              <a:t>nº quartos, banheiros e hóspedes são os drivers mais fortes.</a:t>
            </a:r>
          </a:p>
          <a:p>
            <a:pPr>
              <a:spcAft>
                <a:spcPts val="1300"/>
              </a:spcAft>
            </a:pPr>
            <a:r>
              <a:rPr sz="1800" b="1">
                <a:solidFill>
                  <a:srgbClr val="0E1B33"/>
                </a:solidFill>
              </a:rPr>
              <a:t>• Ratings pouco relevantes: </a:t>
            </a:r>
            <a:r>
              <a:rPr sz="1800">
                <a:solidFill>
                  <a:srgbClr val="4A5A78"/>
                </a:solidFill>
              </a:rPr>
              <a:t>star_rating global não explica receita.</a:t>
            </a:r>
          </a:p>
          <a:p>
            <a:pPr>
              <a:spcAft>
                <a:spcPts val="1300"/>
              </a:spcAft>
            </a:pPr>
            <a:r>
              <a:rPr sz="1800" b="1">
                <a:solidFill>
                  <a:srgbClr val="0E1B33"/>
                </a:solidFill>
              </a:rPr>
              <a:t>• Cuidado estatístico: </a:t>
            </a:r>
            <a:r>
              <a:rPr sz="1800">
                <a:solidFill>
                  <a:srgbClr val="4A5A78"/>
                </a:solidFill>
              </a:rPr>
              <a:t>coeficientes negativos de ratings = colinearidade/mix de preço, não causalidade.</a:t>
            </a:r>
          </a:p>
          <a:p>
            <a:pPr>
              <a:spcAft>
                <a:spcPts val="1300"/>
              </a:spcAft>
            </a:pPr>
            <a:r>
              <a:rPr sz="1800" b="1">
                <a:solidFill>
                  <a:srgbClr val="0E1B33"/>
                </a:solidFill>
              </a:rPr>
              <a:t>• Conclusão: </a:t>
            </a:r>
            <a:r>
              <a:rPr sz="1800">
                <a:solidFill>
                  <a:srgbClr val="4A5A78"/>
                </a:solidFill>
              </a:rPr>
              <a:t>estrutura e capacidade do imóvel (tamanho) determinam a receita, não a avaliação.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95160" y="1463040"/>
            <a:ext cx="4572000" cy="466344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69164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PRINCIPAIS DRIVERS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224028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FFFFF"/>
                </a:solidFill>
              </a:rPr>
              <a:t>Quartos</a:t>
            </a:r>
            <a:r>
              <a:rPr sz="1800">
                <a:solidFill>
                  <a:srgbClr val="FC6058"/>
                </a:solidFill>
              </a:rPr>
              <a:t>	+21,1 ▲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FFFFF"/>
                </a:solidFill>
              </a:rPr>
              <a:t>Banheiros</a:t>
            </a:r>
            <a:r>
              <a:rPr sz="1800">
                <a:solidFill>
                  <a:srgbClr val="FC6058"/>
                </a:solidFill>
              </a:rPr>
              <a:t>	+18,8 ▲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FFFFF"/>
                </a:solidFill>
              </a:rPr>
              <a:t>Hóspedes</a:t>
            </a:r>
            <a:r>
              <a:rPr sz="1800">
                <a:solidFill>
                  <a:srgbClr val="FC6058"/>
                </a:solidFill>
              </a:rPr>
              <a:t>	+13,6 ▲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FFFFF"/>
                </a:solidFill>
              </a:rPr>
              <a:t>Precisão do anúncio</a:t>
            </a:r>
            <a:r>
              <a:rPr sz="1800">
                <a:solidFill>
                  <a:srgbClr val="FC6058"/>
                </a:solidFill>
              </a:rPr>
              <a:t>	+22,8 ▲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FFFFF"/>
                </a:solidFill>
              </a:rPr>
              <a:t>Satisfação</a:t>
            </a:r>
            <a:r>
              <a:rPr sz="1800">
                <a:solidFill>
                  <a:srgbClr val="FC6058"/>
                </a:solidFill>
              </a:rPr>
              <a:t>	+8,8 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PERGUNTA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 que comprar hoje — e por quê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00200"/>
          <a:ext cx="69494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2560"/>
                <a:gridCol w="1930400"/>
                <a:gridCol w="2316480"/>
              </a:tblGrid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Ativo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Retorno Bruto 55%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Retorno Liq. Encargos 55%</a:t>
                      </a:r>
                    </a:p>
                  </a:txBody>
                  <a:tcPr>
                    <a:solidFill>
                      <a:srgbClr val="0E1B33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MORRETES · 2Q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11,3%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10,8%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CENTRO · 2Q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9,8%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9,2%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MEIA PRAIA · 2Q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8,5%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0E1B33"/>
                          </a:solidFill>
                        </a:rPr>
                        <a:t>7,9%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572000"/>
            <a:ext cx="694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E1B33"/>
                </a:solidFill>
              </a:rPr>
              <a:t>• Por que 2Q em Morretes: </a:t>
            </a:r>
            <a:r>
              <a:rPr sz="1600">
                <a:solidFill>
                  <a:srgbClr val="4A5A78"/>
                </a:solidFill>
              </a:rPr>
              <a:t>melhor retorno (bruto 11,3%) com preço acessível (R$ 790 mil).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E1B33"/>
                </a:solidFill>
              </a:rPr>
              <a:t>• Confiança: </a:t>
            </a:r>
            <a:r>
              <a:rPr sz="1600">
                <a:solidFill>
                  <a:srgbClr val="4A5A78"/>
                </a:solidFill>
              </a:rPr>
              <a:t>volumes grandes (59 listings / 1.043 anúncios) = ALTA confiabilidade.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E1B33"/>
                </a:solidFill>
              </a:rPr>
              <a:t>• Equilíbrio: </a:t>
            </a:r>
            <a:r>
              <a:rPr sz="1600">
                <a:solidFill>
                  <a:srgbClr val="4A5A78"/>
                </a:solidFill>
              </a:rPr>
              <a:t>liquidez, menor barreira de entrada e reprodutibilidade estatística.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600200"/>
            <a:ext cx="3566160" cy="448056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8288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COMO COMPARAR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194560"/>
            <a:ext cx="31089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Receita bruta = diária mediana × 365 × ocupação.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Retr. líquido = receita − condomínio×12 − IPTU.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3 cenários: 40% / 55% / 70%.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Não conta opex (limpeza, energia, taxa de plataforma).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POSIÇÃO SOBRE A 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Compactos (1Q) no Centro — os dados sustentam?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54480"/>
            <a:ext cx="10789920" cy="1097280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E1B33"/>
                </a:solidFill>
                <a:latin typeface="Calibri"/>
              </a:rPr>
              <a:t>Resposta: 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0055FF"/>
                </a:solidFill>
                <a:latin typeface="Calibri"/>
              </a:rPr>
              <a:t>parcialmente validada e reposicionada — não refutada.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2608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O que confirma: </a:t>
            </a:r>
            <a:r>
              <a:rPr sz="1900">
                <a:solidFill>
                  <a:srgbClr val="4A5A78"/>
                </a:solidFill>
              </a:rPr>
              <a:t>unidades pequenas têm alta eficiência de capital (receita/m² e retorno).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O que ajusta: </a:t>
            </a:r>
            <a:r>
              <a:rPr sz="1900">
                <a:solidFill>
                  <a:srgbClr val="4A5A78"/>
                </a:solidFill>
              </a:rPr>
              <a:t>o ótimo não é o 1Q, e sim o 2Q (10,3% vs 9,6% do 1Q).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Onde: </a:t>
            </a:r>
            <a:r>
              <a:rPr sz="1900">
                <a:solidFill>
                  <a:srgbClr val="4A5A78"/>
                </a:solidFill>
              </a:rPr>
              <a:t>o melhor retorno confiável está em Morretes 2Q (11,3%), não no Centro 1Q.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Decisão: </a:t>
            </a:r>
            <a:r>
              <a:rPr sz="1900">
                <a:solidFill>
                  <a:srgbClr val="4A5A78"/>
                </a:solidFill>
              </a:rPr>
              <a:t>investir em 2Q (não 1Q), priorizar Morretes e depois Centro; Meia Praia para receita.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PROCESSO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Como a IA foi usada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Ferramenta colaborativa, não substituta: </a:t>
            </a:r>
            <a:r>
              <a:rPr sz="1800">
                <a:solidFill>
                  <a:srgbClr val="4A5A78"/>
                </a:solidFill>
              </a:rPr>
              <a:t>a IA testou hipóteses e o analista decidiu cada critério.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Ponto de virada (Price_AV): </a:t>
            </a:r>
            <a:r>
              <a:rPr sz="1800">
                <a:solidFill>
                  <a:srgbClr val="4A5A78"/>
                </a:solidFill>
              </a:rPr>
              <a:t>diagnóstico mostrou disponibilidade, não ocupação → modelamos por cenários.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Qualidade: </a:t>
            </a:r>
            <a:r>
              <a:rPr sz="1800">
                <a:solidFill>
                  <a:srgbClr val="4A5A78"/>
                </a:solidFill>
              </a:rPr>
              <a:t>detectou inconsistências (owner duplicado, n pequeno, colinearidade) e auditou o relatório como revisor sênior.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Decisões do analista: </a:t>
            </a:r>
            <a:r>
              <a:rPr sz="1800">
                <a:solidFill>
                  <a:srgbClr val="4A5A78"/>
                </a:solidFill>
              </a:rPr>
              <a:t>limiar de R$ 3.000, taxas 40/55/70%, filtros do VivaReal, nomenclatura.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E1B33"/>
                </a:solidFill>
              </a:rPr>
              <a:t>• Rastreabilidade: </a:t>
            </a:r>
            <a:r>
              <a:rPr sz="1800">
                <a:solidFill>
                  <a:srgbClr val="4A5A78"/>
                </a:solidFill>
              </a:rPr>
              <a:t>tudo em ai-log/ (conversa completa em texto) e scripts 01–15.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01752"/>
            <a:ext cx="82296" cy="548640"/>
          </a:xfrm>
          <a:prstGeom prst="rect">
            <a:avLst/>
          </a:prstGeom>
          <a:solidFill>
            <a:srgbClr val="FC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9BCDD"/>
                </a:solidFill>
                <a:latin typeface="Calibri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Com mais uma semana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Ano completo: </a:t>
            </a:r>
            <a:r>
              <a:rPr sz="1900">
                <a:solidFill>
                  <a:srgbClr val="4A5A78"/>
                </a:solidFill>
              </a:rPr>
              <a:t>calibrar sazonalidade real e ocupação/inverno (remover a maior limitação).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Custos operacionais: </a:t>
            </a:r>
            <a:r>
              <a:rPr sz="1900">
                <a:solidFill>
                  <a:srgbClr val="4A5A78"/>
                </a:solidFill>
              </a:rPr>
              <a:t>transformar 'líquido de encargos' em NOI/cap rate completo.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Modelo mais robusto: </a:t>
            </a:r>
            <a:r>
              <a:rPr sz="1900">
                <a:solidFill>
                  <a:srgbClr val="4A5A78"/>
                </a:solidFill>
              </a:rPr>
              <a:t>validação cruzada, VIF e variáveis derivadas (distância à praia, oferta).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Benchmark Seazone + validação externa: </a:t>
            </a:r>
            <a:r>
              <a:rPr sz="1900">
                <a:solidFill>
                  <a:srgbClr val="4A5A78"/>
                </a:solidFill>
              </a:rPr>
              <a:t>testar a hipótese de renda da terra em Morretes com dados censitários.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0E1B33"/>
                </a:solidFill>
              </a:rPr>
              <a:t>• Sensibilidade: </a:t>
            </a:r>
            <a:r>
              <a:rPr sz="1900">
                <a:solidFill>
                  <a:srgbClr val="4A5A78"/>
                </a:solidFill>
              </a:rPr>
              <a:t>testar o limiar de confiabilidade (5/10/15/20) para blindar a decisão 2Q.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0"/>
            <a:ext cx="12191695" cy="1188720"/>
          </a:xfrm>
          <a:prstGeom prst="rect">
            <a:avLst/>
          </a:prstGeom>
          <a:solidFill>
            <a:srgbClr val="00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9BCDD"/>
                </a:solidFill>
                <a:latin typeface="Calibr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Investir em apartamentos 2Q,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FC6058"/>
                </a:solidFill>
                <a:latin typeface="Calibri"/>
              </a:rPr>
              <a:t>começando por Morretes.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6DFF0"/>
                </a:solidFill>
                <a:latin typeface="Calibri"/>
              </a:rPr>
              <a:t>Retorno líquido de encargos de 10,8% a. a. (cenário base de ocupação 55%), com ticket acessível e alta confiabilidade.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A9BCDD"/>
                </a:solidFill>
                <a:latin typeface="Calibri"/>
              </a:rPr>
              <a:t>Tese dos compactos: validada na intuição (eficiência), ajustada na execução (2Q, Morretes).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Obrigado!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   Relatório: relatorio.md · Código: scripts/ · Processo: ai-log/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A78"/>
                </a:solidFill>
                <a:latin typeface="Calibri"/>
              </a:rPr>
              <a:t>Seazone · Hackathon Jovens Talentos AI Builder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4A5A7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