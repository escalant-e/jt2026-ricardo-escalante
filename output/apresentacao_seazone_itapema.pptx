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532120"/>
            <a:ext cx="12191695" cy="1325880"/>
          </a:xfrm>
          <a:prstGeom prst="rect">
            <a:avLst/>
          </a:prstGeom>
          <a:solidFill>
            <a:srgbClr val="005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A9BCDD"/>
                </a:solidFill>
                <a:latin typeface="Calibri"/>
              </a:rPr>
              <a:t>HACKATHON · JOVENS TALENTOS AI BUILDER 2026 · SE AZONE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Recomendação: apartamentos 2Q</a:t>
            </a:r>
          </a:p>
          <a:p>
            <a:pPr algn="l">
              <a:spcAft>
                <a:spcPts val="600"/>
              </a:spcAft>
            </a:pPr>
            <a:r>
              <a:rPr sz="3800" b="1">
                <a:solidFill>
                  <a:srgbClr val="FC6058"/>
                </a:solidFill>
                <a:latin typeface="Calibri"/>
              </a:rPr>
              <a:t>começando por Morretes.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D6DFF0"/>
                </a:solidFill>
                <a:latin typeface="Calibri"/>
              </a:rPr>
              <a:t>Retorno líquido de encargos de 10,8% a.a. (ocupação 55%) · ticket acessível · alta confiabilidade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A9BCDD"/>
                </a:solidFill>
                <a:latin typeface="Calibri"/>
              </a:rPr>
              <a:t>Itapema (SC) · Airbnb + VivaReal · decisão apoiada por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Análise completa: relatorio.md  ·  Processo com IA: ai-log/  ·  github.com/escalant-e/jt2026-ricardo-escalante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01752"/>
            <a:ext cx="82296" cy="54864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A9BCDD"/>
                </a:solidFill>
                <a:latin typeface="Calibri"/>
              </a:rPr>
              <a:t>RACIOCÍNIO 1 DE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Qual perfil? Três óticas, uma decisão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0020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377440"/>
                <a:gridCol w="1828800"/>
                <a:gridCol w="2194560"/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Tipologia</a:t>
                      </a:r>
                    </a:p>
                  </a:txBody>
                  <a:tcPr>
                    <a:solidFill>
                      <a:srgbClr val="0E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Receita bruta (55%)</a:t>
                      </a:r>
                    </a:p>
                  </a:txBody>
                  <a:tcPr>
                    <a:solidFill>
                      <a:srgbClr val="0E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R$/m²</a:t>
                      </a:r>
                    </a:p>
                  </a:txBody>
                  <a:tcPr>
                    <a:solidFill>
                      <a:srgbClr val="0E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Retorno s/ capital</a:t>
                      </a:r>
                    </a:p>
                  </a:txBody>
                  <a:tcPr>
                    <a:solidFill>
                      <a:srgbClr val="0E1B3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E1B33"/>
                          </a:solidFill>
                        </a:rPr>
                        <a:t>4Q+</a:t>
                      </a:r>
                    </a:p>
                  </a:txBody>
                  <a:tcPr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E1B33"/>
                          </a:solidFill>
                        </a:rPr>
                        <a:t>R$ 210,8 mil</a:t>
                      </a:r>
                    </a:p>
                  </a:txBody>
                  <a:tcPr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E1B33"/>
                          </a:solidFill>
                        </a:rPr>
                        <a:t>R$ 1.114</a:t>
                      </a:r>
                    </a:p>
                  </a:txBody>
                  <a:tcPr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E1B33"/>
                          </a:solidFill>
                        </a:rPr>
                        <a:t>5,7%</a:t>
                      </a:r>
                    </a:p>
                  </a:txBody>
                  <a:tcPr>
                    <a:solidFill>
                      <a:srgbClr val="F4F7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E1B33"/>
                          </a:solidFill>
                        </a:rPr>
                        <a:t>3Q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E1B33"/>
                          </a:solidFill>
                        </a:rPr>
                        <a:t>R$ 130,5 mil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E1B33"/>
                          </a:solidFill>
                        </a:rPr>
                        <a:t>R$ 1.183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E1B33"/>
                          </a:solidFill>
                        </a:rPr>
                        <a:t>9,0%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E1B33"/>
                          </a:solidFill>
                        </a:rPr>
                        <a:t>2Q</a:t>
                      </a:r>
                    </a:p>
                  </a:txBody>
                  <a:tcPr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E1B33"/>
                          </a:solidFill>
                        </a:rPr>
                        <a:t>R$ 90,3 mil</a:t>
                      </a:r>
                    </a:p>
                  </a:txBody>
                  <a:tcPr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E1B33"/>
                          </a:solidFill>
                        </a:rPr>
                        <a:t>R$ 1.202</a:t>
                      </a:r>
                    </a:p>
                  </a:txBody>
                  <a:tcPr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E1B33"/>
                          </a:solidFill>
                        </a:rPr>
                        <a:t>10,3%</a:t>
                      </a:r>
                    </a:p>
                  </a:txBody>
                  <a:tcPr>
                    <a:solidFill>
                      <a:srgbClr val="F4F7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E1B33"/>
                          </a:solidFill>
                        </a:rPr>
                        <a:t>1Q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E1B33"/>
                          </a:solidFill>
                        </a:rPr>
                        <a:t>R$ 77,3 mil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E1B33"/>
                          </a:solidFill>
                        </a:rPr>
                        <a:t>R$ 1.807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E1B33"/>
                          </a:solidFill>
                        </a:rPr>
                        <a:t>9,6%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9189720" y="1600200"/>
            <a:ext cx="2331720" cy="137160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72600" y="1783080"/>
            <a:ext cx="1965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3Q/4Q+ vencem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faturamento bruto</a:t>
            </a:r>
          </a:p>
        </p:txBody>
      </p:sp>
      <p:sp>
        <p:nvSpPr>
          <p:cNvPr id="9" name="Rectangle 8"/>
          <p:cNvSpPr/>
          <p:nvPr/>
        </p:nvSpPr>
        <p:spPr>
          <a:xfrm>
            <a:off x="9189720" y="3108960"/>
            <a:ext cx="2331720" cy="1371600"/>
          </a:xfrm>
          <a:prstGeom prst="rect">
            <a:avLst/>
          </a:prstGeom>
          <a:solidFill>
            <a:srgbClr val="005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72600" y="3291840"/>
            <a:ext cx="1965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1Q 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maximiza R$/m² (1.807)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89720" y="4617720"/>
            <a:ext cx="2331720" cy="137160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72600" y="4800600"/>
            <a:ext cx="1965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2Q melhor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retorno (10,3%)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212080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E1B33"/>
                </a:solidFill>
                <a:latin typeface="Calibri"/>
              </a:rPr>
              <a:t>Decisão: 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A5A78"/>
                </a:solidFill>
                <a:latin typeface="Calibri"/>
              </a:rPr>
              <a:t>apartamento 2Q — equilíbrio entre liquidez, ticket e reprodutibilidade estatística.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4652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A5A78"/>
                </a:solidFill>
                <a:latin typeface="Calibri"/>
              </a:rPr>
              <a:t>Seazone · Hackathon Jovens Talentos AI Builder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4A5A7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01752"/>
            <a:ext cx="82296" cy="54864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A9BCDD"/>
                </a:solidFill>
                <a:latin typeface="Calibri"/>
              </a:rPr>
              <a:t>RACIOCÍNIO 2 DE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Onde? O que explica receita?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63040"/>
          <a:ext cx="585215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8068"/>
                <a:gridCol w="1045028"/>
                <a:gridCol w="2299062"/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Bairro</a:t>
                      </a:r>
                    </a:p>
                  </a:txBody>
                  <a:tcPr>
                    <a:solidFill>
                      <a:srgbClr val="0E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0E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Receita anual (55%)</a:t>
                      </a:r>
                    </a:p>
                  </a:txBody>
                  <a:tcPr>
                    <a:solidFill>
                      <a:srgbClr val="0E1B3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E1B33"/>
                          </a:solidFill>
                        </a:rPr>
                        <a:t>MEIA PRAIA</a:t>
                      </a:r>
                    </a:p>
                  </a:txBody>
                  <a:tcPr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E1B33"/>
                          </a:solidFill>
                        </a:rPr>
                        <a:t>630</a:t>
                      </a:r>
                    </a:p>
                  </a:txBody>
                  <a:tcPr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E1B33"/>
                          </a:solidFill>
                        </a:rPr>
                        <a:t>R$ 118,4 mil</a:t>
                      </a:r>
                    </a:p>
                  </a:txBody>
                  <a:tcPr>
                    <a:solidFill>
                      <a:srgbClr val="F4F7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E1B33"/>
                          </a:solidFill>
                        </a:rPr>
                        <a:t>CENTRO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E1B33"/>
                          </a:solidFill>
                        </a:rPr>
                        <a:t>205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E1B33"/>
                          </a:solidFill>
                        </a:rPr>
                        <a:t>R$ 102,2 mil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E1B33"/>
                          </a:solidFill>
                        </a:rPr>
                        <a:t>MORRETES</a:t>
                      </a:r>
                    </a:p>
                  </a:txBody>
                  <a:tcPr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E1B33"/>
                          </a:solidFill>
                        </a:rPr>
                        <a:t>82</a:t>
                      </a:r>
                    </a:p>
                  </a:txBody>
                  <a:tcPr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E1B33"/>
                          </a:solidFill>
                        </a:rPr>
                        <a:t>R$ 94,5 mil</a:t>
                      </a:r>
                    </a:p>
                  </a:txBody>
                  <a:tcPr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572000"/>
            <a:ext cx="5852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E1B33"/>
                </a:solidFill>
              </a:rPr>
              <a:t>• Localização: </a:t>
            </a:r>
            <a:r>
              <a:rPr sz="1600">
                <a:solidFill>
                  <a:srgbClr val="4A5A78"/>
                </a:solidFill>
              </a:rPr>
              <a:t>Meia Praia lidera receita; Centro é alternativa de volume.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463040"/>
            <a:ext cx="4663440" cy="475488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169164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A9BCDD"/>
                </a:solidFill>
                <a:latin typeface="Calibri"/>
              </a:rPr>
              <a:t>DRIVERS DE RECEITA (Q3)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24028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1">
                <a:solidFill>
                  <a:srgbClr val="FFFFFF"/>
                </a:solidFill>
              </a:rPr>
              <a:t>Tamanho/capacidade
</a:t>
            </a:r>
            <a:r>
              <a:rPr sz="1500">
                <a:solidFill>
                  <a:srgbClr val="D6DFF0"/>
                </a:solidFill>
              </a:rPr>
              <a:t>quartos, banheiros, hóspedes — R²=0,45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FFFFFF"/>
                </a:solidFill>
              </a:rPr>
              <a:t>Ratings
</a:t>
            </a:r>
            <a:r>
              <a:rPr sz="1500">
                <a:solidFill>
                  <a:srgbClr val="D6DFF0"/>
                </a:solidFill>
              </a:rPr>
              <a:t>pouco relevantes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FFFFFF"/>
                </a:solidFill>
              </a:rPr>
              <a:t>Tese 'compactos 1Q no Centro'
</a:t>
            </a:r>
            <a:r>
              <a:rPr sz="1500">
                <a:solidFill>
                  <a:srgbClr val="D6DFF0"/>
                </a:solidFill>
              </a:rPr>
              <a:t>parcialmente validada e reposicionada: ótimo é 2Q, melhor retorno em Morretes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4652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A5A78"/>
                </a:solidFill>
                <a:latin typeface="Calibri"/>
              </a:rPr>
              <a:t>Seazone · Hackathon Jovens Talentos AI Builder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4A5A7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01752"/>
            <a:ext cx="82296" cy="54864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A9BCDD"/>
                </a:solidFill>
                <a:latin typeface="Calibri"/>
              </a:rPr>
              <a:t>A RECOMENDAÇÃO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O que comprar hoje — e por quê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54480"/>
          <a:ext cx="6949439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3243"/>
                <a:gridCol w="1579418"/>
                <a:gridCol w="1737360"/>
                <a:gridCol w="1579418"/>
              </a:tblGrid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Ativo</a:t>
                      </a:r>
                    </a:p>
                  </a:txBody>
                  <a:tcPr>
                    <a:solidFill>
                      <a:srgbClr val="0E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Retorno Bruto 55%</a:t>
                      </a:r>
                    </a:p>
                  </a:txBody>
                  <a:tcPr>
                    <a:solidFill>
                      <a:srgbClr val="0E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Ret. Liq. Encargos 55%</a:t>
                      </a:r>
                    </a:p>
                  </a:txBody>
                  <a:tcPr>
                    <a:solidFill>
                      <a:srgbClr val="0E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Preço mediano</a:t>
                      </a:r>
                    </a:p>
                  </a:txBody>
                  <a:tcPr>
                    <a:solidFill>
                      <a:srgbClr val="0E1B33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E1B33"/>
                          </a:solidFill>
                        </a:rPr>
                        <a:t>MORRETES · 2Q</a:t>
                      </a:r>
                    </a:p>
                  </a:txBody>
                  <a:tcPr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E1B33"/>
                          </a:solidFill>
                        </a:rPr>
                        <a:t>11,3%</a:t>
                      </a:r>
                    </a:p>
                  </a:txBody>
                  <a:tcPr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E1B33"/>
                          </a:solidFill>
                        </a:rPr>
                        <a:t>10,8%</a:t>
                      </a:r>
                    </a:p>
                  </a:txBody>
                  <a:tcPr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E1B33"/>
                          </a:solidFill>
                        </a:rPr>
                        <a:t>R$ 790 mil</a:t>
                      </a:r>
                    </a:p>
                  </a:txBody>
                  <a:tcPr>
                    <a:solidFill>
                      <a:srgbClr val="F4F7FC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E1B33"/>
                          </a:solidFill>
                        </a:rPr>
                        <a:t>CENTRO · 2Q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E1B33"/>
                          </a:solidFill>
                        </a:rPr>
                        <a:t>9,8%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E1B33"/>
                          </a:solidFill>
                        </a:rPr>
                        <a:t>9,2%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E1B33"/>
                          </a:solidFill>
                        </a:rPr>
                        <a:t>R$ 1,145M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E1B33"/>
                          </a:solidFill>
                        </a:rPr>
                        <a:t>MEIA PRAIA · 2Q</a:t>
                      </a:r>
                    </a:p>
                  </a:txBody>
                  <a:tcPr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E1B33"/>
                          </a:solidFill>
                        </a:rPr>
                        <a:t>8,5%</a:t>
                      </a:r>
                    </a:p>
                  </a:txBody>
                  <a:tcPr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E1B33"/>
                          </a:solidFill>
                        </a:rPr>
                        <a:t>7,9%</a:t>
                      </a:r>
                    </a:p>
                  </a:txBody>
                  <a:tcPr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E1B33"/>
                          </a:solidFill>
                        </a:rPr>
                        <a:t>R$ 1,065M</a:t>
                      </a:r>
                    </a:p>
                  </a:txBody>
                  <a:tcPr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480560"/>
            <a:ext cx="6949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0E1B33"/>
                </a:solidFill>
              </a:rPr>
              <a:t>• Racional: </a:t>
            </a:r>
            <a:r>
              <a:rPr sz="1500">
                <a:solidFill>
                  <a:srgbClr val="4A5A78"/>
                </a:solidFill>
              </a:rPr>
              <a:t>Morretes 2Q combina melhor retorno (10,8% líquido) com preço acessível (R$ 790 mil).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0E1B33"/>
                </a:solidFill>
              </a:rPr>
              <a:t>• Confiança: </a:t>
            </a:r>
            <a:r>
              <a:rPr sz="1500">
                <a:solidFill>
                  <a:srgbClr val="4A5A78"/>
                </a:solidFill>
              </a:rPr>
              <a:t>volumes grandes (59 listings / 1.043 anúncios) = ALTA confiabilidade.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0E1B33"/>
                </a:solidFill>
              </a:rPr>
              <a:t>• Equilíbrio: </a:t>
            </a:r>
            <a:r>
              <a:rPr sz="1500">
                <a:solidFill>
                  <a:srgbClr val="4A5A78"/>
                </a:solidFill>
              </a:rPr>
              <a:t>liquidez, menor barreira de entrada e reprodutibilidade estatística &gt; taxa nominal máxima.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79" y="1554480"/>
            <a:ext cx="3566160" cy="448056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7830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055FF"/>
                </a:solidFill>
                <a:latin typeface="Calibri"/>
              </a:rPr>
              <a:t>COMO CALCULAMOS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194560"/>
            <a:ext cx="31089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1B33"/>
                </a:solidFill>
                <a:latin typeface="Calibri"/>
              </a:rPr>
              <a:t>Receita = diária mediana × 365 × ocupação.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A5A78"/>
                </a:solidFill>
                <a:latin typeface="Calibri"/>
              </a:rPr>
              <a:t>Cenários de ocupação: 40% / 55% / 70%.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A5A78"/>
                </a:solidFill>
                <a:latin typeface="Calibri"/>
              </a:rPr>
              <a:t>Retorno líquido = receita − condomínio×12 − IPTU.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A5A78"/>
                </a:solidFill>
                <a:latin typeface="Calibri"/>
              </a:rPr>
              <a:t>Não inclui opex (limpeza, energia, taxa da plataforma).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4652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A5A78"/>
                </a:solidFill>
                <a:latin typeface="Calibri"/>
              </a:rPr>
              <a:t>Seazone · Hackathon Jovens Talentos AI Builder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4A5A7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01752"/>
            <a:ext cx="82296" cy="54864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A9BCDD"/>
                </a:solidFill>
                <a:latin typeface="Calibri"/>
              </a:rPr>
              <a:t>PROCESSO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Como a IA foi usada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0E1B33"/>
                </a:solidFill>
              </a:rPr>
              <a:t>• Ferramenta colaborativa, decisão humana: </a:t>
            </a:r>
            <a:r>
              <a:rPr sz="1900">
                <a:solidFill>
                  <a:srgbClr val="4A5A78"/>
                </a:solidFill>
              </a:rPr>
              <a:t>a IA testou hipóteses; o analista decidiu cada critério.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E1B33"/>
                </a:solidFill>
              </a:rPr>
              <a:t>• Ponto de virada (Price_AV): </a:t>
            </a:r>
            <a:r>
              <a:rPr sz="1900">
                <a:solidFill>
                  <a:srgbClr val="4A5A78"/>
                </a:solidFill>
              </a:rPr>
              <a:t>diagnóstico mostrou que o dado é disponibilidade, não ocupação → modelamos por cenários.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E1B33"/>
                </a:solidFill>
              </a:rPr>
              <a:t>• Qualidade: </a:t>
            </a:r>
            <a:r>
              <a:rPr sz="1900">
                <a:solidFill>
                  <a:srgbClr val="4A5A78"/>
                </a:solidFill>
              </a:rPr>
              <a:t>detectou inconsistências (owner duplicado, n pequeno, colinearidade) e auditou o relatório como revisor sênior.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E1B33"/>
                </a:solidFill>
              </a:rPr>
              <a:t>• Rastreabilidade: </a:t>
            </a:r>
            <a:r>
              <a:rPr sz="1900">
                <a:solidFill>
                  <a:srgbClr val="4A5A78"/>
                </a:solidFill>
              </a:rPr>
              <a:t>conversa completa em ai-log/ e scripts 01–16.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A5A78"/>
                </a:solidFill>
                <a:latin typeface="Calibri"/>
              </a:rPr>
              <a:t>Seazone · Hackathon Jovens Talentos AI Builder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4A5A7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01752"/>
            <a:ext cx="82296" cy="54864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A9BCDD"/>
                </a:solidFill>
                <a:latin typeface="Calibri"/>
              </a:rPr>
              <a:t>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O que faria com mais uma semana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0E1B33"/>
                </a:solidFill>
              </a:rPr>
              <a:t>• Ano completo: </a:t>
            </a:r>
            <a:r>
              <a:rPr sz="1900">
                <a:solidFill>
                  <a:srgbClr val="4A5A78"/>
                </a:solidFill>
              </a:rPr>
              <a:t>calibrar sazonalidade real e ocupação de inverno — elimina a principal limitação.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E1B33"/>
                </a:solidFill>
              </a:rPr>
              <a:t>• Custos operacionais: </a:t>
            </a:r>
            <a:r>
              <a:rPr sz="1900">
                <a:solidFill>
                  <a:srgbClr val="4A5A78"/>
                </a:solidFill>
              </a:rPr>
              <a:t>transformar 'líquido de encargos' em NOI/cap rate completo.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E1B33"/>
                </a:solidFill>
              </a:rPr>
              <a:t>• Modelo mais robusto + validação externa: </a:t>
            </a:r>
            <a:r>
              <a:rPr sz="1900">
                <a:solidFill>
                  <a:srgbClr val="4A5A78"/>
                </a:solidFill>
              </a:rPr>
              <a:t>sensibilidade do limiar de confiança e teste da tese de Morretes com dados censitários.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E1B33"/>
                </a:solidFill>
              </a:rPr>
              <a:t>• Benchmark Seazone: </a:t>
            </a:r>
            <a:r>
              <a:rPr sz="1900">
                <a:solidFill>
                  <a:srgbClr val="4A5A78"/>
                </a:solidFill>
              </a:rPr>
              <a:t>comparar com padrões de operação da empresa.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A5A78"/>
                </a:solidFill>
                <a:latin typeface="Calibri"/>
              </a:rPr>
              <a:t>Seazone · Hackathon Jovens Talentos AI Builder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4A5A7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0"/>
            <a:ext cx="12191695" cy="1188720"/>
          </a:xfrm>
          <a:prstGeom prst="rect">
            <a:avLst/>
          </a:prstGeom>
          <a:solidFill>
            <a:srgbClr val="005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A9BCDD"/>
                </a:solidFill>
                <a:latin typeface="Calibri"/>
              </a:rPr>
              <a:t>CONCLUSÃO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Investir em apartamentos 2Q,</a:t>
            </a:r>
          </a:p>
          <a:p>
            <a:pPr algn="l">
              <a:spcAft>
                <a:spcPts val="600"/>
              </a:spcAft>
            </a:pPr>
            <a:r>
              <a:rPr sz="4000" b="1">
                <a:solidFill>
                  <a:srgbClr val="FC6058"/>
                </a:solidFill>
                <a:latin typeface="Calibri"/>
              </a:rPr>
              <a:t>começando por Morretes.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D6DFF0"/>
                </a:solidFill>
                <a:latin typeface="Calibri"/>
              </a:rPr>
              <a:t>10,8% a.a. líquido de encargos (55% de ocupação), com ticket acessível e alta confiabilidade.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A9BCDD"/>
                </a:solidFill>
                <a:latin typeface="Calibri"/>
              </a:rPr>
              <a:t>Tese dos compactos: validada na intuição (eficiência), ajustada na execução (2Q, Morretes).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Obrigado!  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Relatório: relatorio.md · Código: scripts/ · Processo: ai-log/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A5A78"/>
                </a:solidFill>
                <a:latin typeface="Calibri"/>
              </a:rPr>
              <a:t>Seazone · Hackathon Jovens Talentos AI Builder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4A5A7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